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9"/>
  </p:notesMasterIdLst>
  <p:sldIdLst>
    <p:sldId id="283" r:id="rId2"/>
    <p:sldId id="257" r:id="rId3"/>
    <p:sldId id="282" r:id="rId4"/>
    <p:sldId id="290" r:id="rId5"/>
    <p:sldId id="291" r:id="rId6"/>
    <p:sldId id="292" r:id="rId7"/>
    <p:sldId id="293" r:id="rId8"/>
    <p:sldId id="262" r:id="rId9"/>
    <p:sldId id="294" r:id="rId10"/>
    <p:sldId id="295" r:id="rId11"/>
    <p:sldId id="296" r:id="rId12"/>
    <p:sldId id="297" r:id="rId13"/>
    <p:sldId id="298" r:id="rId14"/>
    <p:sldId id="299" r:id="rId15"/>
    <p:sldId id="300" r:id="rId16"/>
    <p:sldId id="301" r:id="rId17"/>
    <p:sldId id="276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607964C-E5DD-E1EB-46B5-3E9128519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649EDDE5-9915-D901-464D-B6E2661235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E14D9BFB-47EB-33F1-8A75-A3147A9582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344560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1741AB48-C46D-D0A8-0510-3BCFBA761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BC723E3F-255C-FE17-1146-7AC4FDA01E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4BB2AF07-A8B1-0629-EF21-42B446E0C4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901399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30C20F8-06D8-A8D5-1EF5-2A2F86B26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8B62636E-557D-641B-978D-95786F3E61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7F7567C2-38CE-B364-4AAD-80A8838B65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482746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627D9A9D-60D3-6554-FF66-9EE61474D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E21D53C9-7DDA-8554-2EF8-614987F2E9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F3CF0AD2-F3F5-4D32-712C-004E2D900B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457146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A77974AF-18E5-1EB7-F3CB-54D498988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35B0F030-F56B-A871-C219-99D6EF4CA8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8389C401-7CCA-8CD3-1EEE-ADCA8EDB36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243436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C9A92C27-2767-9418-1BD8-F12227080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688DCCE8-C292-A5B3-FB13-3967D375BC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F936B649-B8BB-BD8A-294C-44DA6B8FBF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750955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C488B902-52A9-4627-C807-DA35F9DE5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0607CCD6-F4B4-A9D8-D1A5-C691D3F6EA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0D70FF18-E64D-F0D1-925B-1F4B4B0DF9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23650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BDF3A862-676F-32D3-FD66-C3773A243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B7F84A-EBC0-BEDC-8A55-836781AAEE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358391E6-87E5-3A03-42BC-8E8499823D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912108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345D55D3-D22C-E8A0-B144-2550C756F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65AC0FB3-CF4B-AF9E-B2C9-49591B2912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FC30F60-5832-B70A-D2DF-9D0AD17BA7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121941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1F77D890-CF93-9ECB-052A-3A5C1C882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E65EDCE2-ADB3-B606-F4A0-F5CD00DA17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D9BBEEE0-9F61-94A6-B7DB-E82FE9F60E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392723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E359605D-AF5B-AA35-5DA3-6338E2BAB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D3228C40-F320-191D-F1E9-CBCBCC0866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CFD71E35-4257-BF4E-D590-5C5F9E08A3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716030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1BB3EB26-42FF-F4FB-09C1-18B6E38F2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DE1A46D1-BF33-1464-D3CC-19C7A81DA3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D552E5F3-E103-80D4-ACD4-64252CBD4D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50278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br>
              <a:rPr lang="en-US" b="1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/>
              <a:t>“Exploring the Power of Agentic AI with IBM Granite and </a:t>
            </a:r>
            <a:r>
              <a:rPr lang="en-US" b="1" i="1" err="1"/>
              <a:t>LangFlow</a:t>
            </a:r>
            <a:r>
              <a:rPr lang="en-US" b="1" i="1"/>
              <a:t>”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1823516748"/>
              </p:ext>
            </p:extLst>
          </p:nvPr>
        </p:nvGraphicFramePr>
        <p:xfrm>
          <a:off x="1476691" y="3317002"/>
          <a:ext cx="9680621" cy="2354075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1276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76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76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176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5719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6882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2591260" y="2457154"/>
            <a:ext cx="70094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Domain of Project – Social Governance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Project Name – </a:t>
            </a:r>
            <a:r>
              <a:rPr lang="hi-IN" sz="2800" b="1" dirty="0"/>
              <a:t>कारी</a:t>
            </a:r>
            <a:r>
              <a:rPr lang="en-US" sz="2800" b="1" dirty="0">
                <a:highlight>
                  <a:srgbClr val="FFFF00"/>
                </a:highlight>
              </a:rPr>
              <a:t>GAR (by Team </a:t>
            </a:r>
            <a:r>
              <a:rPr lang="en-US" sz="2800" b="1" dirty="0" err="1">
                <a:highlight>
                  <a:srgbClr val="FFFF00"/>
                </a:highlight>
              </a:rPr>
              <a:t>Thekedaars</a:t>
            </a:r>
            <a:r>
              <a:rPr lang="en-US" sz="2800" b="1" dirty="0">
                <a:highlight>
                  <a:srgbClr val="FFFF00"/>
                </a:highlight>
              </a:rPr>
              <a:t>)</a:t>
            </a:r>
            <a:endParaRPr lang="en-IN" sz="2800" b="1" dirty="0">
              <a:highlight>
                <a:srgbClr val="FFFF0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7D4ECB-CB6E-5126-6D77-4517E3AD1433}"/>
              </a:ext>
            </a:extLst>
          </p:cNvPr>
          <p:cNvSpPr txBox="1"/>
          <p:nvPr/>
        </p:nvSpPr>
        <p:spPr>
          <a:xfrm>
            <a:off x="1034686" y="1400398"/>
            <a:ext cx="101226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Project Title – Smart Migrant Labor Welfare &amp;</a:t>
            </a:r>
          </a:p>
          <a:p>
            <a:pPr algn="ctr"/>
            <a:r>
              <a:rPr lang="en-US" sz="2400" b="1" dirty="0"/>
              <a:t> Skill Mapping Platform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CCFF00-5661-26CB-4203-D9A9FE07E657}"/>
              </a:ext>
            </a:extLst>
          </p:cNvPr>
          <p:cNvSpPr txBox="1"/>
          <p:nvPr/>
        </p:nvSpPr>
        <p:spPr>
          <a:xfrm>
            <a:off x="1606126" y="4626605"/>
            <a:ext cx="19702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Prasiddhi Mishra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584005-79EE-E6E3-EC75-F0069C342A72}"/>
              </a:ext>
            </a:extLst>
          </p:cNvPr>
          <p:cNvSpPr txBox="1"/>
          <p:nvPr/>
        </p:nvSpPr>
        <p:spPr>
          <a:xfrm>
            <a:off x="6213231" y="4624600"/>
            <a:ext cx="23812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/>
              <a:t>mishraprasiddhi105@gmail.com</a:t>
            </a:r>
            <a:endParaRPr lang="en-IN" sz="1800" b="1" dirty="0">
              <a:highlight>
                <a:srgbClr val="FFFF00"/>
              </a:highligh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BAB82B-9469-E203-E94E-F3EC5A8B3278}"/>
              </a:ext>
            </a:extLst>
          </p:cNvPr>
          <p:cNvSpPr txBox="1"/>
          <p:nvPr/>
        </p:nvSpPr>
        <p:spPr>
          <a:xfrm>
            <a:off x="8923602" y="4607283"/>
            <a:ext cx="18637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/>
              <a:t>+91 7041441566</a:t>
            </a:r>
            <a:endParaRPr lang="en-IN" sz="1800" b="1" dirty="0">
              <a:highlight>
                <a:srgbClr val="FFFF00"/>
              </a:highligh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46ACE1-FC07-FF3B-E240-C426B388B1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6589" y="4400968"/>
            <a:ext cx="1176027" cy="127010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934142"/>
            <a:ext cx="1060704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/>
            <a:r>
              <a:rPr lang="en-US" sz="1800" b="1" dirty="0"/>
              <a:t>Problem Statement : </a:t>
            </a:r>
            <a:r>
              <a:rPr lang="en-US" sz="1800" b="1" dirty="0" err="1"/>
              <a:t>Karigar</a:t>
            </a:r>
            <a:r>
              <a:rPr lang="en-US" sz="1800" b="1" dirty="0"/>
              <a:t> App</a:t>
            </a:r>
            <a:endParaRPr lang="en-US" sz="1800" dirty="0"/>
          </a:p>
          <a:p>
            <a:pPr algn="just" fontAlgn="base"/>
            <a:endParaRPr lang="en-US" sz="1800" b="1" dirty="0"/>
          </a:p>
          <a:p>
            <a:pPr algn="just"/>
            <a:r>
              <a:rPr lang="en-IN" sz="1800" b="1" dirty="0"/>
              <a:t>The Challenge</a:t>
            </a:r>
            <a:endParaRPr lang="en-IN" sz="1800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dirty="0"/>
              <a:t>Gujarat hosts a massive interstate migrant workforce across construction, textiles, diamond polishing, and chemical processing.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dirty="0"/>
              <a:t>Many workers lack access to government welfare schemes, fair wage protection, and safe grievance mechanisms.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dirty="0"/>
              <a:t>This systemic gap leaves them vulnerable to severe exploitation, debt traps, and hazardous working conditions.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IN" sz="1800" dirty="0"/>
          </a:p>
          <a:p>
            <a:pPr algn="just"/>
            <a:r>
              <a:rPr lang="en-IN" sz="1800" b="1" dirty="0"/>
              <a:t>The Objective</a:t>
            </a:r>
            <a:r>
              <a:rPr lang="en-IN" sz="1800" dirty="0"/>
              <a:t> </a:t>
            </a:r>
          </a:p>
          <a:p>
            <a:pPr algn="just"/>
            <a:r>
              <a:rPr lang="en-IN" sz="1800" dirty="0"/>
              <a:t>Build an Agentic AI Platform (</a:t>
            </a:r>
            <a:r>
              <a:rPr lang="en-IN" sz="1800" dirty="0" err="1"/>
              <a:t>Karigar</a:t>
            </a:r>
            <a:r>
              <a:rPr lang="en-IN" sz="1800" dirty="0"/>
              <a:t> App) to empower migrant </a:t>
            </a:r>
            <a:r>
              <a:rPr lang="en-IN" sz="1800" dirty="0" err="1"/>
              <a:t>laborers</a:t>
            </a:r>
            <a:r>
              <a:rPr lang="en-IN" sz="1800" dirty="0"/>
              <a:t> through: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Skill &amp; Location Mapping:</a:t>
            </a:r>
            <a:r>
              <a:rPr lang="en-IN" sz="1800" dirty="0"/>
              <a:t> Automatically extract technical skills and geographic clusters from unstructured worker speech/text.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Welfare Eligibility:</a:t>
            </a:r>
            <a:r>
              <a:rPr lang="en-IN" sz="1800" dirty="0"/>
              <a:t> Match worker profiles directly to central and state welfare schemes (e.g., BOCW, PM-SYM).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Wage Fairness &amp; Grievance Reporting:</a:t>
            </a:r>
            <a:r>
              <a:rPr lang="en-IN" sz="1800" dirty="0"/>
              <a:t> Detect illegal wage withholdings and flag critical occupational health and safety hazards in real-time.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Labor Welfare Command Dashboard:</a:t>
            </a:r>
            <a:r>
              <a:rPr lang="en-IN" sz="1800" dirty="0"/>
              <a:t> Provide real-time surveillance and dispatch metrics for authorities and NGOs. </a:t>
            </a:r>
          </a:p>
          <a:p>
            <a:pPr algn="just" fontAlgn="base"/>
            <a:endParaRPr lang="en-US" sz="1800" dirty="0"/>
          </a:p>
          <a:p>
            <a:pPr algn="just"/>
            <a:endParaRPr lang="en-IN" sz="1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410922"/>
            <a:ext cx="721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Problem Statement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E9A9E334-AB74-C244-9D9E-456CE72F9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15DC97-333E-CF20-E99A-7C04B77D3E2B}"/>
              </a:ext>
            </a:extLst>
          </p:cNvPr>
          <p:cNvSpPr txBox="1"/>
          <p:nvPr/>
        </p:nvSpPr>
        <p:spPr>
          <a:xfrm>
            <a:off x="576072" y="934142"/>
            <a:ext cx="1060704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/>
            <a:r>
              <a:rPr lang="en-US" sz="1800" b="1" dirty="0"/>
              <a:t>Proposed Solution : </a:t>
            </a:r>
            <a:r>
              <a:rPr lang="en-IN" sz="1800" dirty="0"/>
              <a:t>Agentic AI Ecosystem</a:t>
            </a:r>
            <a:endParaRPr lang="en-US" sz="1800" dirty="0"/>
          </a:p>
          <a:p>
            <a:pPr algn="just" fontAlgn="base"/>
            <a:endParaRPr lang="en-US" sz="1800" b="1" dirty="0"/>
          </a:p>
          <a:p>
            <a:pPr algn="just"/>
            <a:r>
              <a:rPr lang="en-IN" sz="1800" b="1" dirty="0"/>
              <a:t>Overview</a:t>
            </a:r>
            <a:endParaRPr lang="en-IN" sz="1800" dirty="0"/>
          </a:p>
          <a:p>
            <a:pPr lvl="0" algn="just"/>
            <a:r>
              <a:rPr lang="en-IN" sz="1800" dirty="0"/>
              <a:t>The proposed solution is a multi-agent AI system built using IBM Granite LLM, IBM </a:t>
            </a:r>
            <a:r>
              <a:rPr lang="en-IN" sz="1800" dirty="0" err="1"/>
              <a:t>Cloudant</a:t>
            </a:r>
            <a:r>
              <a:rPr lang="en-IN" sz="1800" dirty="0"/>
              <a:t>, and </a:t>
            </a:r>
            <a:r>
              <a:rPr lang="en-IN" sz="1800" dirty="0" err="1"/>
              <a:t>Langflow</a:t>
            </a:r>
            <a:r>
              <a:rPr lang="en-IN" sz="1800" dirty="0"/>
              <a:t> / IBM Bob orchestration to safeguard migrant </a:t>
            </a:r>
            <a:r>
              <a:rPr lang="en-IN" sz="1800" dirty="0" err="1"/>
              <a:t>laborers</a:t>
            </a:r>
            <a:r>
              <a:rPr lang="en-IN" sz="1800" dirty="0"/>
              <a:t>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IN" sz="1800" dirty="0"/>
          </a:p>
          <a:p>
            <a:pPr algn="just"/>
            <a:r>
              <a:rPr lang="en-IN" sz="1800" b="1" dirty="0"/>
              <a:t>Our 5 Specialized Agents:</a:t>
            </a:r>
            <a:endParaRPr lang="en-IN" sz="1800" dirty="0"/>
          </a:p>
          <a:p>
            <a:pPr marL="342900" lvl="8" indent="-342900" algn="just">
              <a:buFont typeface="+mj-lt"/>
              <a:buAutoNum type="arabicPeriod"/>
            </a:pPr>
            <a:r>
              <a:rPr lang="en-IN" sz="1800" b="1" dirty="0"/>
              <a:t>Migrant Skill &amp; Location Mapping Agent:</a:t>
            </a:r>
            <a:r>
              <a:rPr lang="en-IN" sz="1800" dirty="0"/>
              <a:t> Extracts artisan skills and location parameters from natural language inputs. </a:t>
            </a:r>
          </a:p>
          <a:p>
            <a:pPr marL="342900" lvl="8" indent="-342900" algn="just">
              <a:buFont typeface="+mj-lt"/>
              <a:buAutoNum type="arabicPeriod"/>
            </a:pPr>
            <a:r>
              <a:rPr lang="en-IN" sz="1800" b="1" dirty="0"/>
              <a:t>Welfare Scheme Eligibility Agent:</a:t>
            </a:r>
            <a:r>
              <a:rPr lang="en-IN" sz="1800" dirty="0"/>
              <a:t> Evaluates worker eligibility against state and national </a:t>
            </a:r>
            <a:r>
              <a:rPr lang="en-IN" sz="1800" dirty="0" err="1"/>
              <a:t>labor</a:t>
            </a:r>
            <a:r>
              <a:rPr lang="en-IN" sz="1800" dirty="0"/>
              <a:t> schemes. </a:t>
            </a:r>
          </a:p>
          <a:p>
            <a:pPr marL="342900" lvl="8" indent="-342900" algn="just">
              <a:buFont typeface="+mj-lt"/>
              <a:buAutoNum type="arabicPeriod"/>
            </a:pPr>
            <a:r>
              <a:rPr lang="en-IN" sz="1800" b="1" dirty="0"/>
              <a:t>Wage Fairness Monitoring Agent:</a:t>
            </a:r>
            <a:r>
              <a:rPr lang="en-IN" sz="1800" dirty="0"/>
              <a:t> Detects wage theft, excessive working hours, and underpayment anomalies against statutory standards. </a:t>
            </a:r>
          </a:p>
          <a:p>
            <a:pPr marL="342900" lvl="8" indent="-342900" algn="just">
              <a:buFont typeface="+mj-lt"/>
              <a:buAutoNum type="arabicPeriod"/>
            </a:pPr>
            <a:r>
              <a:rPr lang="en-IN" sz="1800" b="1" dirty="0"/>
              <a:t>Grievance &amp; Safety Reporting Agent:</a:t>
            </a:r>
            <a:r>
              <a:rPr lang="en-IN" sz="1800" dirty="0"/>
              <a:t> Scans for high-risk safety hazards (e.g., silicosis risks, toxic exposure) and triggers severity ratings (Critical, High, Medium). </a:t>
            </a:r>
          </a:p>
          <a:p>
            <a:pPr marL="342900" lvl="8" indent="-342900" algn="just">
              <a:buFont typeface="+mj-lt"/>
              <a:buAutoNum type="arabicPeriod"/>
            </a:pPr>
            <a:r>
              <a:rPr lang="en-IN" sz="1800" b="1" dirty="0"/>
              <a:t>Labor Welfare Dashboard Agent:</a:t>
            </a:r>
            <a:r>
              <a:rPr lang="en-IN" sz="1800" dirty="0"/>
              <a:t> Aggregates real-time intelligence into a SaaS Command </a:t>
            </a:r>
            <a:r>
              <a:rPr lang="en-IN" sz="1800" dirty="0" err="1"/>
              <a:t>Center</a:t>
            </a:r>
            <a:r>
              <a:rPr lang="en-IN" sz="1800" dirty="0"/>
              <a:t> for rapid administrative intervention.</a:t>
            </a:r>
          </a:p>
          <a:p>
            <a:pPr algn="just" fontAlgn="base"/>
            <a:endParaRPr lang="en-US" sz="1800" dirty="0"/>
          </a:p>
          <a:p>
            <a:pPr algn="just"/>
            <a:endParaRPr lang="en-IN" sz="1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E1BE03-63F8-F9C8-36B1-AA4D47D744F4}"/>
              </a:ext>
            </a:extLst>
          </p:cNvPr>
          <p:cNvSpPr txBox="1"/>
          <p:nvPr/>
        </p:nvSpPr>
        <p:spPr>
          <a:xfrm>
            <a:off x="576072" y="410922"/>
            <a:ext cx="721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Proposed Solution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3665195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18CC823C-7CB1-5287-BFA0-AA9626020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6E9FDC-F2CA-8FA9-4424-92591C8935A2}"/>
              </a:ext>
            </a:extLst>
          </p:cNvPr>
          <p:cNvSpPr txBox="1"/>
          <p:nvPr/>
        </p:nvSpPr>
        <p:spPr>
          <a:xfrm>
            <a:off x="576072" y="934142"/>
            <a:ext cx="1060704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/>
            <a:r>
              <a:rPr lang="en-US" sz="1800" dirty="0"/>
              <a:t>The</a:t>
            </a:r>
            <a:r>
              <a:rPr lang="en-US" sz="1800" b="1" dirty="0"/>
              <a:t> </a:t>
            </a:r>
            <a:r>
              <a:rPr lang="en-IN" sz="1800" dirty="0"/>
              <a:t>Technology &amp; Components Used are :</a:t>
            </a:r>
          </a:p>
          <a:p>
            <a:pPr algn="just" fontAlgn="base"/>
            <a:endParaRPr lang="en-US" sz="1800" b="1" dirty="0"/>
          </a:p>
          <a:p>
            <a:pPr algn="just"/>
            <a:r>
              <a:rPr lang="en-IN" sz="1800" b="1" dirty="0"/>
              <a:t>Core Infrastructure:</a:t>
            </a:r>
            <a:endParaRPr lang="en-IN" sz="1800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IBM Granite Model (Granite-4.0-8B-Instruct):</a:t>
            </a:r>
            <a:r>
              <a:rPr lang="en-IN" sz="1800" dirty="0"/>
              <a:t> Powered our NLP translation, severity categorization, and scheme matching.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IBM </a:t>
            </a:r>
            <a:r>
              <a:rPr lang="en-IN" sz="1800" b="1" dirty="0" err="1"/>
              <a:t>Cloudant</a:t>
            </a:r>
            <a:r>
              <a:rPr lang="en-IN" sz="1800" b="1" dirty="0"/>
              <a:t> (NoSQL Document Database):</a:t>
            </a:r>
            <a:r>
              <a:rPr lang="en-IN" sz="1800" dirty="0"/>
              <a:t> Used to store dynamic JSON worker profiles, incident records, and schema-less data.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IBM watsonx.ai:</a:t>
            </a:r>
            <a:r>
              <a:rPr lang="en-IN" sz="1800" dirty="0"/>
              <a:t> Provided the core AI infrastructure, API management, and governance for our agentic workflows.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IN" sz="1800" dirty="0"/>
          </a:p>
          <a:p>
            <a:pPr algn="just"/>
            <a:r>
              <a:rPr lang="en-IN" sz="1800" b="1" dirty="0"/>
              <a:t>Orchestration &amp; Development:</a:t>
            </a:r>
            <a:endParaRPr lang="en-IN" sz="1800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IBM Bob Platform:</a:t>
            </a:r>
            <a:r>
              <a:rPr lang="en-IN" sz="1800" dirty="0"/>
              <a:t> Used for rapid troubleshooting, visual UI generation, and architectural design.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b="1" dirty="0" err="1"/>
              <a:t>FastAPI</a:t>
            </a:r>
            <a:r>
              <a:rPr lang="en-IN" sz="1800" b="1" dirty="0"/>
              <a:t> &amp; Python:</a:t>
            </a:r>
            <a:r>
              <a:rPr lang="en-IN" sz="1800" dirty="0"/>
              <a:t> Handled our backend routing and AI API connections.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Render Cloud:</a:t>
            </a:r>
            <a:r>
              <a:rPr lang="en-IN" sz="1800" dirty="0"/>
              <a:t> Hosted our live, </a:t>
            </a:r>
            <a:r>
              <a:rPr lang="en-IN" sz="1800" dirty="0" err="1"/>
              <a:t>unblockable</a:t>
            </a:r>
            <a:r>
              <a:rPr lang="en-IN" sz="1800" dirty="0"/>
              <a:t> production server.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IN" sz="1800" dirty="0"/>
          </a:p>
          <a:p>
            <a:pPr algn="just"/>
            <a:r>
              <a:rPr lang="en-IN" sz="1800" b="1" dirty="0"/>
              <a:t>User Interfaces (Inputs/Outputs):</a:t>
            </a:r>
            <a:endParaRPr lang="en-IN" sz="1800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Flutter (Mobile App):</a:t>
            </a:r>
            <a:r>
              <a:rPr lang="en-IN" sz="1800" dirty="0"/>
              <a:t> Handled the chat/form input for workers to report grievances.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Tailwind CSS (Command </a:t>
            </a:r>
            <a:r>
              <a:rPr lang="en-IN" sz="1800" b="1" dirty="0" err="1"/>
              <a:t>Center</a:t>
            </a:r>
            <a:r>
              <a:rPr lang="en-IN" sz="1800" b="1" dirty="0"/>
              <a:t>):</a:t>
            </a:r>
            <a:r>
              <a:rPr lang="en-IN" sz="1800" dirty="0"/>
              <a:t> The live SaaS dashboard that outputs the structured AI responses and risk levels.</a:t>
            </a:r>
          </a:p>
          <a:p>
            <a:pPr algn="just" fontAlgn="base"/>
            <a:endParaRPr lang="en-US" sz="1800" dirty="0"/>
          </a:p>
          <a:p>
            <a:pPr algn="just"/>
            <a:endParaRPr lang="en-IN" sz="1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F43A12-85E1-5CEC-77FA-EDC29F58DCB7}"/>
              </a:ext>
            </a:extLst>
          </p:cNvPr>
          <p:cNvSpPr txBox="1"/>
          <p:nvPr/>
        </p:nvSpPr>
        <p:spPr>
          <a:xfrm>
            <a:off x="576072" y="410922"/>
            <a:ext cx="721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Technology &amp; Components Used</a:t>
            </a:r>
          </a:p>
        </p:txBody>
      </p:sp>
    </p:spTree>
    <p:extLst>
      <p:ext uri="{BB962C8B-B14F-4D97-AF65-F5344CB8AC3E}">
        <p14:creationId xmlns:p14="http://schemas.microsoft.com/office/powerpoint/2010/main" val="13728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36D5F4D9-E072-A898-54DD-87F5C8E70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834D8F-86E2-F2EF-5009-C34591C42052}"/>
              </a:ext>
            </a:extLst>
          </p:cNvPr>
          <p:cNvSpPr txBox="1"/>
          <p:nvPr/>
        </p:nvSpPr>
        <p:spPr>
          <a:xfrm>
            <a:off x="576072" y="934142"/>
            <a:ext cx="1060704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/>
            <a:r>
              <a:rPr lang="en-IN" sz="1800" dirty="0"/>
              <a:t>AI System Components (Custom Orchestration)</a:t>
            </a:r>
          </a:p>
          <a:p>
            <a:pPr algn="just" fontAlgn="base"/>
            <a:endParaRPr lang="en-US" sz="1800" b="1" dirty="0"/>
          </a:p>
          <a:p>
            <a:pPr algn="just"/>
            <a:r>
              <a:rPr lang="en-IN" sz="1800" i="1" dirty="0"/>
              <a:t>(Note: We opted for custom Python/</a:t>
            </a:r>
            <a:r>
              <a:rPr lang="en-IN" sz="1800" i="1" dirty="0" err="1"/>
              <a:t>FastAPI</a:t>
            </a:r>
            <a:r>
              <a:rPr lang="en-IN" sz="1800" i="1" dirty="0"/>
              <a:t> orchestration over visual builders to achieve lower latency and enterprise scalability).</a:t>
            </a:r>
          </a:p>
          <a:p>
            <a:pPr algn="just"/>
            <a:endParaRPr lang="en-IN" sz="1800" dirty="0"/>
          </a:p>
          <a:p>
            <a:pPr lvl="0" algn="just"/>
            <a:r>
              <a:rPr lang="en-IN" sz="1800" b="1" dirty="0"/>
              <a:t>1) Mobile Input Interface:</a:t>
            </a:r>
            <a:r>
              <a:rPr lang="en-IN" sz="1800" dirty="0"/>
              <a:t> Flutter-based UI where users enter their grievances, profile details, and evidence. </a:t>
            </a:r>
          </a:p>
          <a:p>
            <a:pPr lvl="0" algn="just"/>
            <a:r>
              <a:rPr lang="en-IN" sz="1800" b="1" dirty="0"/>
              <a:t>2) Custom API Orchestrator (</a:t>
            </a:r>
            <a:r>
              <a:rPr lang="en-IN" sz="1800" b="1" dirty="0" err="1"/>
              <a:t>FastAPI</a:t>
            </a:r>
            <a:r>
              <a:rPr lang="en-IN" sz="1800" b="1" dirty="0"/>
              <a:t>):</a:t>
            </a:r>
            <a:r>
              <a:rPr lang="en-IN" sz="1800" dirty="0"/>
              <a:t> Our Python backend that receives the data and dynamically routes it to the specific AI agents.</a:t>
            </a:r>
          </a:p>
          <a:p>
            <a:pPr lvl="0" algn="just"/>
            <a:r>
              <a:rPr lang="en-IN" sz="1800" b="1" dirty="0"/>
              <a:t>3) IBM </a:t>
            </a:r>
            <a:r>
              <a:rPr lang="en-IN" sz="1800" b="1" dirty="0" err="1"/>
              <a:t>watsonx</a:t>
            </a:r>
            <a:r>
              <a:rPr lang="en-IN" sz="1800" b="1" dirty="0"/>
              <a:t> AI Agent:</a:t>
            </a:r>
            <a:r>
              <a:rPr lang="en-IN" sz="1800" dirty="0"/>
              <a:t> Processes the payload using IBM Granite-4.0-8B-Instruct to generate personalized safety insights and welfare recommendations. </a:t>
            </a:r>
          </a:p>
          <a:p>
            <a:pPr lvl="0" algn="just"/>
            <a:r>
              <a:rPr lang="en-IN" sz="1800" b="1" dirty="0"/>
              <a:t>4) </a:t>
            </a:r>
            <a:r>
              <a:rPr lang="en-IN" sz="1800" b="1" dirty="0" err="1"/>
              <a:t>Cloudant</a:t>
            </a:r>
            <a:r>
              <a:rPr lang="en-IN" sz="1800" b="1" dirty="0"/>
              <a:t> Database Component:</a:t>
            </a:r>
            <a:r>
              <a:rPr lang="en-IN" sz="1800" dirty="0"/>
              <a:t> Stores and retrieves dynamic user profiles, incident logs, and structured datasets for tracking. </a:t>
            </a:r>
          </a:p>
          <a:p>
            <a:pPr lvl="0" algn="just"/>
            <a:r>
              <a:rPr lang="en-IN" sz="1800" b="1" dirty="0"/>
              <a:t>5) Web Dashboard Output:</a:t>
            </a:r>
            <a:r>
              <a:rPr lang="en-IN" sz="1800" dirty="0"/>
              <a:t> Displays the AI-generated structured JSON responses (risk levels, scheme matches) in a real-time command </a:t>
            </a:r>
            <a:r>
              <a:rPr lang="en-IN" sz="1800" dirty="0" err="1"/>
              <a:t>center</a:t>
            </a:r>
            <a:r>
              <a:rPr lang="en-IN" sz="1800" dirty="0"/>
              <a:t>. </a:t>
            </a:r>
          </a:p>
          <a:p>
            <a:pPr algn="just" fontAlgn="base"/>
            <a:endParaRPr lang="en-US" sz="1800" dirty="0"/>
          </a:p>
          <a:p>
            <a:pPr algn="just"/>
            <a:endParaRPr lang="en-IN" sz="1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A81B48-EACB-75B5-6682-FA39D336F894}"/>
              </a:ext>
            </a:extLst>
          </p:cNvPr>
          <p:cNvSpPr txBox="1"/>
          <p:nvPr/>
        </p:nvSpPr>
        <p:spPr>
          <a:xfrm>
            <a:off x="576072" y="410922"/>
            <a:ext cx="721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AI System Components</a:t>
            </a:r>
          </a:p>
        </p:txBody>
      </p:sp>
    </p:spTree>
    <p:extLst>
      <p:ext uri="{BB962C8B-B14F-4D97-AF65-F5344CB8AC3E}">
        <p14:creationId xmlns:p14="http://schemas.microsoft.com/office/powerpoint/2010/main" val="950605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261F0CAE-C7A8-6BB4-1A75-8EBC338D9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7A88BE-4DB6-0CE1-F499-E57A99205709}"/>
              </a:ext>
            </a:extLst>
          </p:cNvPr>
          <p:cNvSpPr txBox="1"/>
          <p:nvPr/>
        </p:nvSpPr>
        <p:spPr>
          <a:xfrm>
            <a:off x="576072" y="934142"/>
            <a:ext cx="1060704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IN" sz="1800" b="1" dirty="0"/>
          </a:p>
          <a:p>
            <a:pPr algn="just"/>
            <a:r>
              <a:rPr lang="en-IN" sz="1800" b="1" dirty="0"/>
              <a:t>The Pipeline:</a:t>
            </a:r>
          </a:p>
          <a:p>
            <a:pPr algn="just"/>
            <a:endParaRPr lang="en-IN" sz="1800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Autonomous Multi-Agent Collaboration:</a:t>
            </a:r>
            <a:r>
              <a:rPr lang="en-IN" sz="1800" dirty="0"/>
              <a:t> Rather than operating as a passive chatbot, specialized agents perform dedicated tasks (skill indexing, wage auditing, safety hazard analysis) and collaborate asynchronously.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Unstructured-to-Structured Intelligence:</a:t>
            </a:r>
            <a:r>
              <a:rPr lang="en-IN" sz="1800" dirty="0"/>
              <a:t> Converts informal, colloquial Hindi/Gujarati voice statements into actionable, prioritized JSON data points.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Real-Time Data Sync:</a:t>
            </a:r>
            <a:r>
              <a:rPr lang="en-IN" sz="1800" dirty="0"/>
              <a:t> The Flutter Mobile App securely sends data to the Python/</a:t>
            </a:r>
            <a:r>
              <a:rPr lang="en-IN" sz="1800" dirty="0" err="1"/>
              <a:t>FastAPI</a:t>
            </a:r>
            <a:r>
              <a:rPr lang="en-IN" sz="1800" dirty="0"/>
              <a:t> orchestrator, which interacts with IBM watsonx.ai and logs directly to IBM </a:t>
            </a:r>
            <a:r>
              <a:rPr lang="en-IN" sz="1800" dirty="0" err="1"/>
              <a:t>Cloudant</a:t>
            </a:r>
            <a:r>
              <a:rPr lang="en-IN" sz="1800" dirty="0"/>
              <a:t>.</a:t>
            </a:r>
          </a:p>
          <a:p>
            <a:pPr algn="just" fontAlgn="base"/>
            <a:endParaRPr lang="en-US" sz="1800" dirty="0"/>
          </a:p>
          <a:p>
            <a:pPr algn="just"/>
            <a:endParaRPr lang="en-IN" sz="1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1366C8-3F4A-B9A5-1F39-0A298F5177F4}"/>
              </a:ext>
            </a:extLst>
          </p:cNvPr>
          <p:cNvSpPr txBox="1"/>
          <p:nvPr/>
        </p:nvSpPr>
        <p:spPr>
          <a:xfrm>
            <a:off x="576072" y="410922"/>
            <a:ext cx="721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Workflow &amp; Architecture Blueprint</a:t>
            </a:r>
          </a:p>
        </p:txBody>
      </p:sp>
      <p:grpSp>
        <p:nvGrpSpPr>
          <p:cNvPr id="4" name="Group 5">
            <a:extLst>
              <a:ext uri="{FF2B5EF4-FFF2-40B4-BE49-F238E27FC236}">
                <a16:creationId xmlns:a16="http://schemas.microsoft.com/office/drawing/2014/main" id="{9EB29765-A1E8-32BD-99FF-C081B9BD6DCA}"/>
              </a:ext>
            </a:extLst>
          </p:cNvPr>
          <p:cNvGrpSpPr/>
          <p:nvPr/>
        </p:nvGrpSpPr>
        <p:grpSpPr>
          <a:xfrm>
            <a:off x="4192357" y="4002245"/>
            <a:ext cx="3807286" cy="2244992"/>
            <a:chOff x="0" y="0"/>
            <a:chExt cx="1482686" cy="1274980"/>
          </a:xfrm>
        </p:grpSpPr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976C7234-E4FE-4414-0F7D-23BD3A62C215}"/>
                </a:ext>
              </a:extLst>
            </p:cNvPr>
            <p:cNvSpPr/>
            <p:nvPr/>
          </p:nvSpPr>
          <p:spPr>
            <a:xfrm flipH="1">
              <a:off x="0" y="0"/>
              <a:ext cx="1482686" cy="1274980"/>
            </a:xfrm>
            <a:custGeom>
              <a:avLst/>
              <a:gdLst/>
              <a:ahLst/>
              <a:cxnLst/>
              <a:rect l="l" t="t" r="r" b="b"/>
              <a:pathLst>
                <a:path w="1482686" h="1274980">
                  <a:moveTo>
                    <a:pt x="1482686" y="0"/>
                  </a:moveTo>
                  <a:lnTo>
                    <a:pt x="0" y="0"/>
                  </a:lnTo>
                  <a:lnTo>
                    <a:pt x="0" y="1274980"/>
                  </a:lnTo>
                  <a:lnTo>
                    <a:pt x="1482686" y="1274980"/>
                  </a:lnTo>
                  <a:close/>
                </a:path>
              </a:pathLst>
            </a:custGeom>
            <a:blipFill>
              <a:blip r:embed="rId3"/>
              <a:stretch>
                <a:fillRect t="-37272" b="-37272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3246301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</a:t>
            </a: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E6829F-44B9-C029-E578-25587EB15A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01" t="10641" r="2044" b="3232"/>
          <a:stretch>
            <a:fillRect/>
          </a:stretch>
        </p:blipFill>
        <p:spPr>
          <a:xfrm>
            <a:off x="205289" y="1179647"/>
            <a:ext cx="11781422" cy="528397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A9603B64-1B5E-E98F-3E96-5C2046FED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BDC739-0EE0-2437-9B66-4C336A457FAC}"/>
              </a:ext>
            </a:extLst>
          </p:cNvPr>
          <p:cNvSpPr txBox="1"/>
          <p:nvPr/>
        </p:nvSpPr>
        <p:spPr>
          <a:xfrm>
            <a:off x="576072" y="934142"/>
            <a:ext cx="1060704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800" dirty="0"/>
              <a:t>Role of Agentic AI in </a:t>
            </a:r>
            <a:r>
              <a:rPr lang="en-IN" sz="1800" dirty="0" err="1"/>
              <a:t>Karigar</a:t>
            </a:r>
            <a:r>
              <a:rPr lang="en-IN" sz="1800" dirty="0"/>
              <a:t> App</a:t>
            </a:r>
          </a:p>
          <a:p>
            <a:pPr algn="just"/>
            <a:endParaRPr lang="en-IN" sz="1800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Autonomous Multi-Agent Collaboration:</a:t>
            </a:r>
            <a:r>
              <a:rPr lang="en-IN" sz="1800" dirty="0"/>
              <a:t> Rather than operating as a passive chatbot, specialized agents perform dedicated tasks (skill indexing, wage auditing, safety hazard analysis) and collaborate asynchronously.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Unstructured-to-Structured Intelligence:</a:t>
            </a:r>
            <a:r>
              <a:rPr lang="en-IN" sz="1800" dirty="0"/>
              <a:t> Converts informal, colloquial Hindi/Gujarati voice statements into actionable, prioritized JSON data points.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Context-Aware Decision Making:</a:t>
            </a:r>
            <a:r>
              <a:rPr lang="en-IN" sz="1800" dirty="0"/>
              <a:t> Automatically cross-references dynamic worker symptoms (e.g., dust inhalation) with specific state welfare policies (e.g., Pneumoconiosis relief).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Proactive Risk Intervention:</a:t>
            </a:r>
            <a:r>
              <a:rPr lang="en-IN" sz="1800" dirty="0"/>
              <a:t> Directly escalates critical life-safety threats (e.g., mine flooding, boiler leaks) to the Command </a:t>
            </a:r>
            <a:r>
              <a:rPr lang="en-IN" sz="1800" dirty="0" err="1"/>
              <a:t>Center</a:t>
            </a:r>
            <a:r>
              <a:rPr lang="en-IN" sz="1800" dirty="0"/>
              <a:t> without requiring manual triage.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4F8B36-F36F-6DE6-D562-4CB447D317D8}"/>
              </a:ext>
            </a:extLst>
          </p:cNvPr>
          <p:cNvSpPr txBox="1"/>
          <p:nvPr/>
        </p:nvSpPr>
        <p:spPr>
          <a:xfrm>
            <a:off x="576072" y="410922"/>
            <a:ext cx="721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Role of Agentic AI in the Solution</a:t>
            </a:r>
          </a:p>
        </p:txBody>
      </p:sp>
      <p:grpSp>
        <p:nvGrpSpPr>
          <p:cNvPr id="4" name="Group 2">
            <a:extLst>
              <a:ext uri="{FF2B5EF4-FFF2-40B4-BE49-F238E27FC236}">
                <a16:creationId xmlns:a16="http://schemas.microsoft.com/office/drawing/2014/main" id="{38BF65DB-45CA-D83D-EEE2-77CE8D4A7552}"/>
              </a:ext>
            </a:extLst>
          </p:cNvPr>
          <p:cNvGrpSpPr/>
          <p:nvPr/>
        </p:nvGrpSpPr>
        <p:grpSpPr>
          <a:xfrm>
            <a:off x="7943414" y="3908886"/>
            <a:ext cx="3572957" cy="2719676"/>
            <a:chOff x="0" y="0"/>
            <a:chExt cx="1135718" cy="798653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888E0975-7C89-8AA9-7081-D299120C98EB}"/>
                </a:ext>
              </a:extLst>
            </p:cNvPr>
            <p:cNvSpPr/>
            <p:nvPr/>
          </p:nvSpPr>
          <p:spPr>
            <a:xfrm>
              <a:off x="0" y="0"/>
              <a:ext cx="1135718" cy="798653"/>
            </a:xfrm>
            <a:custGeom>
              <a:avLst/>
              <a:gdLst/>
              <a:ahLst/>
              <a:cxnLst/>
              <a:rect l="l" t="t" r="r" b="b"/>
              <a:pathLst>
                <a:path w="1135718" h="798653">
                  <a:moveTo>
                    <a:pt x="0" y="0"/>
                  </a:moveTo>
                  <a:lnTo>
                    <a:pt x="1135718" y="0"/>
                  </a:lnTo>
                  <a:lnTo>
                    <a:pt x="1135718" y="798653"/>
                  </a:lnTo>
                  <a:lnTo>
                    <a:pt x="0" y="798653"/>
                  </a:lnTo>
                  <a:close/>
                </a:path>
              </a:pathLst>
            </a:custGeom>
            <a:blipFill>
              <a:blip r:embed="rId3"/>
              <a:stretch>
                <a:fillRect l="-12507" r="-12507"/>
              </a:stretch>
            </a:blipFill>
            <a:ln w="9525" cap="sq">
              <a:solidFill>
                <a:srgbClr val="000000"/>
              </a:solidFill>
              <a:prstDash val="solid"/>
              <a:miter/>
            </a:ln>
          </p:spPr>
        </p:sp>
      </p:grpSp>
    </p:spTree>
    <p:extLst>
      <p:ext uri="{BB962C8B-B14F-4D97-AF65-F5344CB8AC3E}">
        <p14:creationId xmlns:p14="http://schemas.microsoft.com/office/powerpoint/2010/main" val="34323240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9995C26-F491-B0A5-9DCA-868094CF9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3E48944A-0519-D5AA-0F70-4B53B5361887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Token Usage on IBM Cloud</a:t>
            </a:r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C1F980-76A1-92A9-763D-43D91A2E57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849" y="869689"/>
            <a:ext cx="11542301" cy="559298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CEC814F-67BD-AD7A-1D3F-F76BE8AF38E6}"/>
              </a:ext>
            </a:extLst>
          </p:cNvPr>
          <p:cNvSpPr txBox="1"/>
          <p:nvPr/>
        </p:nvSpPr>
        <p:spPr>
          <a:xfrm>
            <a:off x="3058509" y="4922818"/>
            <a:ext cx="75763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/>
            <a:r>
              <a:rPr lang="en-IN" sz="1800" b="1" dirty="0"/>
              <a:t>Token Metric Summary:</a:t>
            </a:r>
            <a:r>
              <a:rPr lang="en-IN" sz="1800" dirty="0"/>
              <a:t> Real-time extraction completed within optimal context window limits (~1,958 tokens per full grievance lifecycle audit).</a:t>
            </a:r>
          </a:p>
        </p:txBody>
      </p:sp>
    </p:spTree>
    <p:extLst>
      <p:ext uri="{BB962C8B-B14F-4D97-AF65-F5344CB8AC3E}">
        <p14:creationId xmlns:p14="http://schemas.microsoft.com/office/powerpoint/2010/main" val="5188034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6492F901-6AB2-A50C-0858-B16E0B59E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E917C559-B087-61DD-BEF4-607C611C3DED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Token Usage on IBM Bob</a:t>
            </a: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50F03F-91C7-2038-DB6A-B182E436FC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58" y="848151"/>
            <a:ext cx="11937683" cy="568661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348085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17C89065-B1CB-5B1A-3CB3-C0374665A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A5B528-6DA7-291E-965B-4F8618FA87A1}"/>
              </a:ext>
            </a:extLst>
          </p:cNvPr>
          <p:cNvSpPr txBox="1"/>
          <p:nvPr/>
        </p:nvSpPr>
        <p:spPr>
          <a:xfrm>
            <a:off x="576072" y="934142"/>
            <a:ext cx="10607040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dirty="0"/>
              <a:t>. </a:t>
            </a:r>
            <a:endParaRPr lang="en-IN" sz="1800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Voice-First &amp; Low Literacy Design:</a:t>
            </a:r>
            <a:r>
              <a:rPr lang="en-IN" sz="1800" dirty="0"/>
              <a:t> Enables informal workers to speak freely without navigating complex government web forms.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Agentic Multi-Layer Analysis:</a:t>
            </a:r>
            <a:r>
              <a:rPr lang="en-IN" sz="1800" dirty="0"/>
              <a:t> Simultaneously evaluates skills, wage compliance, and physical safety in a single pass.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Enterprise Command </a:t>
            </a:r>
            <a:r>
              <a:rPr lang="en-IN" sz="1800" b="1" dirty="0" err="1"/>
              <a:t>Center</a:t>
            </a:r>
            <a:r>
              <a:rPr lang="en-IN" sz="1800" b="1" dirty="0"/>
              <a:t>:</a:t>
            </a:r>
            <a:r>
              <a:rPr lang="en-IN" sz="1800" dirty="0"/>
              <a:t> Bridges vulnerable workers directly to district authorities via an interactive, real-time surveillance dashboard.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Schema-Less Scalability:</a:t>
            </a:r>
            <a:r>
              <a:rPr lang="en-IN" sz="1800" dirty="0"/>
              <a:t> Powered by IBM </a:t>
            </a:r>
            <a:r>
              <a:rPr lang="en-IN" sz="1800" dirty="0" err="1"/>
              <a:t>Cloudant</a:t>
            </a:r>
            <a:r>
              <a:rPr lang="en-IN" sz="1800" dirty="0"/>
              <a:t>, allowing dynamic violation tagging and multi-state expansion with zero schema friction.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Enterprise-Ready Governance:</a:t>
            </a:r>
            <a:r>
              <a:rPr lang="en-IN" sz="1800" dirty="0"/>
              <a:t> Built natively on IBM watsonx.ai and IBM Granite models for trusted and governed AI processing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AFF8DA-AA7A-1C9F-F549-D38E8EF1A444}"/>
              </a:ext>
            </a:extLst>
          </p:cNvPr>
          <p:cNvSpPr txBox="1"/>
          <p:nvPr/>
        </p:nvSpPr>
        <p:spPr>
          <a:xfrm>
            <a:off x="576072" y="410922"/>
            <a:ext cx="721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Novelty and Uniqueness</a:t>
            </a:r>
            <a:endParaRPr lang="en-IN" sz="2800" b="1" dirty="0"/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4D5A64C9-741C-5A45-F67A-A231B7C7AF07}"/>
              </a:ext>
            </a:extLst>
          </p:cNvPr>
          <p:cNvGrpSpPr/>
          <p:nvPr/>
        </p:nvGrpSpPr>
        <p:grpSpPr>
          <a:xfrm>
            <a:off x="8347841" y="4011908"/>
            <a:ext cx="2711669" cy="2530782"/>
            <a:chOff x="0" y="0"/>
            <a:chExt cx="598345" cy="563121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266A105D-F34D-8E78-7F27-93A49D484AD4}"/>
                </a:ext>
              </a:extLst>
            </p:cNvPr>
            <p:cNvSpPr/>
            <p:nvPr/>
          </p:nvSpPr>
          <p:spPr>
            <a:xfrm>
              <a:off x="0" y="0"/>
              <a:ext cx="598345" cy="563121"/>
            </a:xfrm>
            <a:custGeom>
              <a:avLst/>
              <a:gdLst/>
              <a:ahLst/>
              <a:cxnLst/>
              <a:rect l="l" t="t" r="r" b="b"/>
              <a:pathLst>
                <a:path w="598345" h="563121">
                  <a:moveTo>
                    <a:pt x="0" y="0"/>
                  </a:moveTo>
                  <a:lnTo>
                    <a:pt x="598345" y="0"/>
                  </a:lnTo>
                  <a:lnTo>
                    <a:pt x="598345" y="563121"/>
                  </a:lnTo>
                  <a:lnTo>
                    <a:pt x="0" y="563121"/>
                  </a:lnTo>
                  <a:close/>
                </a:path>
              </a:pathLst>
            </a:custGeom>
            <a:blipFill>
              <a:blip r:embed="rId3"/>
              <a:stretch>
                <a:fillRect l="-20628" r="-20628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37855813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9BBCE44-299A-F236-4AE2-CF74E12F1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96EA09-EB2E-3660-387F-AB9C2EF69E0A}"/>
              </a:ext>
            </a:extLst>
          </p:cNvPr>
          <p:cNvSpPr txBox="1"/>
          <p:nvPr/>
        </p:nvSpPr>
        <p:spPr>
          <a:xfrm>
            <a:off x="576073" y="934142"/>
            <a:ext cx="606909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/>
            <a:endParaRPr lang="en-US" sz="1800" b="1" dirty="0"/>
          </a:p>
          <a:p>
            <a:pPr algn="just"/>
            <a:r>
              <a:rPr lang="en-IN" sz="1800" b="1" dirty="0"/>
              <a:t>Links</a:t>
            </a:r>
            <a:endParaRPr lang="en-IN" sz="1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1" dirty="0" err="1"/>
              <a:t>Github</a:t>
            </a:r>
            <a:r>
              <a:rPr lang="en-IN" sz="1800" b="1" dirty="0"/>
              <a:t> Repository</a:t>
            </a:r>
            <a:r>
              <a:rPr lang="en-IN" sz="1800" dirty="0"/>
              <a:t> – [https://github.com/krish-7567/team-thekedaars-core]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sz="1800" b="1" dirty="0"/>
              <a:t>Live Command </a:t>
            </a:r>
            <a:r>
              <a:rPr lang="en-IN" sz="1800" b="1" dirty="0" err="1"/>
              <a:t>Center</a:t>
            </a:r>
            <a:r>
              <a:rPr lang="en-IN" sz="1800" b="1" dirty="0"/>
              <a:t> Dashboard</a:t>
            </a:r>
            <a:r>
              <a:rPr lang="en-IN" sz="1800" dirty="0"/>
              <a:t> – [https://team-thekedaars-karigar.onrender.com/dashboard]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sz="1800" b="1" dirty="0"/>
              <a:t>System Status:</a:t>
            </a:r>
            <a:r>
              <a:rPr lang="en-IN" sz="1800" dirty="0"/>
              <a:t> Production Live — Powered by IBM watsonx.ai &amp; </a:t>
            </a:r>
            <a:r>
              <a:rPr lang="en-IN" sz="1800" dirty="0" err="1"/>
              <a:t>Cloudant</a:t>
            </a:r>
            <a:r>
              <a:rPr lang="en-IN" sz="1800" dirty="0"/>
              <a:t> NoSQL.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dirty="0"/>
              <a:t>Scan the QR to Download </a:t>
            </a:r>
            <a:r>
              <a:rPr lang="hi-IN" sz="1800" dirty="0"/>
              <a:t>कारी</a:t>
            </a:r>
            <a:r>
              <a:rPr lang="en-IN" sz="1800" dirty="0"/>
              <a:t>GAR Android APK (Release Version)</a:t>
            </a:r>
          </a:p>
          <a:p>
            <a:pPr algn="just" fontAlgn="base"/>
            <a:endParaRPr lang="en-US" sz="1800" dirty="0"/>
          </a:p>
          <a:p>
            <a:pPr algn="just"/>
            <a:endParaRPr lang="en-IN" sz="1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601658-AE11-F5B2-64F4-7453FDE85173}"/>
              </a:ext>
            </a:extLst>
          </p:cNvPr>
          <p:cNvSpPr txBox="1"/>
          <p:nvPr/>
        </p:nvSpPr>
        <p:spPr>
          <a:xfrm>
            <a:off x="576072" y="410922"/>
            <a:ext cx="721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System Access &amp; Repository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A14EE9-FA76-DF29-D69C-F00518F84A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6085" y="480848"/>
            <a:ext cx="4526098" cy="5896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8976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4B7704F8-DB18-D10F-4AD4-93BF20B09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EAEAC1-D4FB-8718-FC3A-E0EC9240537E}"/>
              </a:ext>
            </a:extLst>
          </p:cNvPr>
          <p:cNvSpPr txBox="1"/>
          <p:nvPr/>
        </p:nvSpPr>
        <p:spPr>
          <a:xfrm>
            <a:off x="576072" y="934142"/>
            <a:ext cx="746434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1800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WhatsApp &amp; IVR Voice Integration:</a:t>
            </a:r>
            <a:r>
              <a:rPr lang="en-IN" sz="1800" dirty="0"/>
              <a:t> Enable direct grievance logging via WhatsApp bots and toll-free telephone IVR for feature phones.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National e-Shram API Sync:</a:t>
            </a:r>
            <a:r>
              <a:rPr lang="en-IN" sz="1800" dirty="0"/>
              <a:t> Bi-directional sync with the Ministry of Labour &amp; Employment database for instant identity verification.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Automated Legal &amp; Medical Aid Dispatch:</a:t>
            </a:r>
            <a:r>
              <a:rPr lang="en-IN" sz="1800" dirty="0"/>
              <a:t> Direct automated alerting to district legal service authorities and mobile health clinics in industrial zones.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2C1101-654B-5265-39E9-B5B4ACB9D928}"/>
              </a:ext>
            </a:extLst>
          </p:cNvPr>
          <p:cNvSpPr txBox="1"/>
          <p:nvPr/>
        </p:nvSpPr>
        <p:spPr>
          <a:xfrm>
            <a:off x="576072" y="410922"/>
            <a:ext cx="721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Future Scope</a:t>
            </a:r>
            <a:endParaRPr lang="en-IN" sz="2800" b="1" dirty="0"/>
          </a:p>
        </p:txBody>
      </p:sp>
      <p:grpSp>
        <p:nvGrpSpPr>
          <p:cNvPr id="4" name="Group 2">
            <a:extLst>
              <a:ext uri="{FF2B5EF4-FFF2-40B4-BE49-F238E27FC236}">
                <a16:creationId xmlns:a16="http://schemas.microsoft.com/office/drawing/2014/main" id="{B656B477-B6FC-9CAD-E0F9-EC67615C13D7}"/>
              </a:ext>
            </a:extLst>
          </p:cNvPr>
          <p:cNvGrpSpPr/>
          <p:nvPr/>
        </p:nvGrpSpPr>
        <p:grpSpPr>
          <a:xfrm>
            <a:off x="8205952" y="1836682"/>
            <a:ext cx="3709521" cy="4610395"/>
            <a:chOff x="0" y="0"/>
            <a:chExt cx="1545289" cy="1593725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C3EFB4D9-DA9A-11C4-A87C-AA89C4078A7A}"/>
                </a:ext>
              </a:extLst>
            </p:cNvPr>
            <p:cNvSpPr/>
            <p:nvPr/>
          </p:nvSpPr>
          <p:spPr>
            <a:xfrm>
              <a:off x="0" y="0"/>
              <a:ext cx="1545289" cy="1593725"/>
            </a:xfrm>
            <a:custGeom>
              <a:avLst/>
              <a:gdLst/>
              <a:ahLst/>
              <a:cxnLst/>
              <a:rect l="l" t="t" r="r" b="b"/>
              <a:pathLst>
                <a:path w="1545289" h="1593725">
                  <a:moveTo>
                    <a:pt x="0" y="0"/>
                  </a:moveTo>
                  <a:lnTo>
                    <a:pt x="1545289" y="0"/>
                  </a:lnTo>
                  <a:lnTo>
                    <a:pt x="1545289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3">
                <a:alphaModFix amt="38000"/>
              </a:blip>
              <a:stretch>
                <a:fillRect l="-18756" r="-18756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15282932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0095137E-6AC1-A1A2-C498-26330249F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0DBCECE1-7738-CA50-5B02-1ACCA97EB378}"/>
              </a:ext>
            </a:extLst>
          </p:cNvPr>
          <p:cNvSpPr/>
          <p:nvPr/>
        </p:nvSpPr>
        <p:spPr>
          <a:xfrm>
            <a:off x="4618764" y="112291"/>
            <a:ext cx="2954471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Certificates Earned</a:t>
            </a: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61D5DE-0AEC-321D-A36C-CFFEDA49D1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077"/>
          <a:stretch>
            <a:fillRect/>
          </a:stretch>
        </p:blipFill>
        <p:spPr>
          <a:xfrm>
            <a:off x="2133599" y="561933"/>
            <a:ext cx="8452339" cy="6340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9563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225DB9C4-8BFF-9E6F-B045-23BE4E9A0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E2AE2014-CC90-B5D9-5596-1AB29122E61D}"/>
              </a:ext>
            </a:extLst>
          </p:cNvPr>
          <p:cNvSpPr/>
          <p:nvPr/>
        </p:nvSpPr>
        <p:spPr>
          <a:xfrm>
            <a:off x="4618764" y="112291"/>
            <a:ext cx="2954471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Certificates Earned</a:t>
            </a:r>
            <a:endParaRPr lang="en-US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6EFBA3-C577-C16E-E87D-56BF77FC8D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56" r="648" b="1445"/>
          <a:stretch>
            <a:fillRect/>
          </a:stretch>
        </p:blipFill>
        <p:spPr>
          <a:xfrm>
            <a:off x="1552988" y="738554"/>
            <a:ext cx="9086023" cy="5568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0077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1168</Words>
  <Application>Microsoft Office PowerPoint</Application>
  <PresentationFormat>Widescreen</PresentationFormat>
  <Paragraphs>105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Vachaspati Mishra</cp:lastModifiedBy>
  <cp:revision>18</cp:revision>
  <dcterms:created xsi:type="dcterms:W3CDTF">2025-07-08T05:06:56Z</dcterms:created>
  <dcterms:modified xsi:type="dcterms:W3CDTF">2026-08-24T23:32:19Z</dcterms:modified>
</cp:coreProperties>
</file>