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90" r:id="rId5"/>
    <p:sldId id="291" r:id="rId6"/>
    <p:sldId id="292" r:id="rId7"/>
    <p:sldId id="293" r:id="rId8"/>
    <p:sldId id="262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607964C-E5DD-E1EB-46B5-3E912851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49EDDE5-9915-D901-464D-B6E266123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14D9BFB-47EB-33F1-8A75-A3147A958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445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41AB48-C46D-D0A8-0510-3BCFBA76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C723E3F-255C-FE17-1146-7AC4FDA01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BB2AF07-A8B1-0629-EF21-42B446E0C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139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0C20F8-06D8-A8D5-1EF5-2A2F86B2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B62636E-557D-641B-978D-95786F3E6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F7567C2-38CE-B364-4AAD-80A8838B6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274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7D9A9D-60D3-6554-FF66-9EE61474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21D53C9-7DDA-8554-2EF8-614987F2E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3CF0AD2-F3F5-4D32-712C-004E2D900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71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77974AF-18E5-1EB7-F3CB-54D49898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5B0F030-F56B-A871-C219-99D6EF4C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389C401-7CCA-8CD3-1EEE-ADCA8EDB3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4343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9A92C27-2767-9418-1BD8-F1222708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688DCCE8-C292-A5B3-FB13-3967D375B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936B649-B8BB-BD8A-294C-44DA6B8FB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095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88B902-52A9-4627-C807-DA35F9DE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607CCD6-F4B4-A9D8-D1A5-C691D3F6E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D70FF18-E64D-F0D1-925B-1F4B4B0DF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365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DF3A862-676F-32D3-FD66-C3773A24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B7F84A-EBC0-BEDC-8A55-836781AAE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58391E6-87E5-3A03-42BC-8E8499823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210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45D55D3-D22C-E8A0-B144-2550C756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5AC0FB3-CF4B-AF9E-B2C9-49591B291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C30F60-5832-B70A-D2DF-9D0AD17BA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19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77D890-CF93-9ECB-052A-3A5C1C88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65EDCE2-ADB3-B606-F4A0-F5CD00DA1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9BBEEE0-9F61-94A6-B7DB-E82FE9F6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272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359605D-AF5B-AA35-5DA3-6338E2BA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3228C40-F320-191D-F1E9-CBCBCC086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FD71E35-4257-BF4E-D590-5C5F9E08A3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603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BB3EB26-42FF-F4FB-09C1-18B6E38F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E1A46D1-BF33-1464-D3CC-19C7A81D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552E5F3-E103-80D4-ACD4-64252CBD4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27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23516748"/>
              </p:ext>
            </p:extLst>
          </p:nvPr>
        </p:nvGraphicFramePr>
        <p:xfrm>
          <a:off x="1476691" y="3317002"/>
          <a:ext cx="9680621" cy="235407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27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71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8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2591260" y="2457154"/>
            <a:ext cx="7009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Domain of Project – Social Governance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Project Name – </a:t>
            </a:r>
            <a:r>
              <a:rPr lang="hi-IN" sz="2800" b="1" dirty="0"/>
              <a:t>कारी</a:t>
            </a:r>
            <a:r>
              <a:rPr lang="en-US" sz="2800" b="1" dirty="0">
                <a:highlight>
                  <a:srgbClr val="FFFF00"/>
                </a:highlight>
              </a:rPr>
              <a:t>GAR (by Team </a:t>
            </a:r>
            <a:r>
              <a:rPr lang="en-US" sz="2800" b="1" dirty="0" err="1">
                <a:highlight>
                  <a:srgbClr val="FFFF00"/>
                </a:highlight>
              </a:rPr>
              <a:t>Thekedaars</a:t>
            </a:r>
            <a:r>
              <a:rPr lang="en-US" sz="2800" b="1" dirty="0">
                <a:highlight>
                  <a:srgbClr val="FFFF00"/>
                </a:highlight>
              </a:rPr>
              <a:t>)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D4ECB-CB6E-5126-6D77-4517E3AD1433}"/>
              </a:ext>
            </a:extLst>
          </p:cNvPr>
          <p:cNvSpPr txBox="1"/>
          <p:nvPr/>
        </p:nvSpPr>
        <p:spPr>
          <a:xfrm>
            <a:off x="1034686" y="1400398"/>
            <a:ext cx="10122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Title – Smart Migrant Labor Welfare &amp;</a:t>
            </a:r>
          </a:p>
          <a:p>
            <a:pPr algn="ctr"/>
            <a:r>
              <a:rPr lang="en-US" sz="2400" b="1" dirty="0"/>
              <a:t> Skill Mapping Platform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CFF00-5661-26CB-4203-D9A9FE07E657}"/>
              </a:ext>
            </a:extLst>
          </p:cNvPr>
          <p:cNvSpPr txBox="1"/>
          <p:nvPr/>
        </p:nvSpPr>
        <p:spPr>
          <a:xfrm>
            <a:off x="1606126" y="4425370"/>
            <a:ext cx="1970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Anurrag Singh Tomar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84005-79EE-E6E3-EC75-F0069C342A72}"/>
              </a:ext>
            </a:extLst>
          </p:cNvPr>
          <p:cNvSpPr txBox="1"/>
          <p:nvPr/>
        </p:nvSpPr>
        <p:spPr>
          <a:xfrm>
            <a:off x="6371304" y="4624600"/>
            <a:ext cx="2084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anurragsingh15@gmail.com</a:t>
            </a:r>
            <a:endParaRPr lang="en-IN" sz="18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AB82B-9469-E203-E94E-F3EC5A8B3278}"/>
              </a:ext>
            </a:extLst>
          </p:cNvPr>
          <p:cNvSpPr txBox="1"/>
          <p:nvPr/>
        </p:nvSpPr>
        <p:spPr>
          <a:xfrm>
            <a:off x="8923602" y="4607283"/>
            <a:ext cx="186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+91 8871791000</a:t>
            </a:r>
            <a:endParaRPr lang="en-IN" sz="18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EADF49-E6C4-CB7A-92A6-DB4FA27FE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60" y="4460606"/>
            <a:ext cx="943333" cy="1129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34142"/>
            <a:ext cx="106070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b="1" dirty="0"/>
              <a:t>Problem Statement : </a:t>
            </a:r>
            <a:r>
              <a:rPr lang="en-US" sz="1800" b="1" dirty="0" err="1"/>
              <a:t>Karigar</a:t>
            </a:r>
            <a:r>
              <a:rPr lang="en-US" sz="1800" b="1" dirty="0"/>
              <a:t> App</a:t>
            </a:r>
            <a:endParaRPr lang="en-US" sz="1800" dirty="0"/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The Challenge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Gujarat hosts a massive interstate migrant workforce across construction, textiles, diamond polishing, and chemical processing.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Many workers lack access to government welfare schemes, fair wage protection, and safe grievance mechanisms.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This systemic gap leaves them vulnerable to severe exploitation, debt traps, and hazardous working conditions.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The Objective</a:t>
            </a:r>
            <a:r>
              <a:rPr lang="en-IN" sz="1800" dirty="0"/>
              <a:t> </a:t>
            </a:r>
          </a:p>
          <a:p>
            <a:pPr algn="just"/>
            <a:r>
              <a:rPr lang="en-IN" sz="1800" dirty="0"/>
              <a:t>Build an Agentic AI Platform (</a:t>
            </a:r>
            <a:r>
              <a:rPr lang="en-IN" sz="1800" dirty="0" err="1"/>
              <a:t>Karigar</a:t>
            </a:r>
            <a:r>
              <a:rPr lang="en-IN" sz="1800" dirty="0"/>
              <a:t> App) to empower migrant </a:t>
            </a:r>
            <a:r>
              <a:rPr lang="en-IN" sz="1800" dirty="0" err="1"/>
              <a:t>laborers</a:t>
            </a:r>
            <a:r>
              <a:rPr lang="en-IN" sz="1800" dirty="0"/>
              <a:t> through: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Skill &amp; Location Mapping:</a:t>
            </a:r>
            <a:r>
              <a:rPr lang="en-IN" sz="1800" dirty="0"/>
              <a:t> Automatically extract technical skills and geographic clusters from unstructured worker speech/text.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Welfare Eligibility:</a:t>
            </a:r>
            <a:r>
              <a:rPr lang="en-IN" sz="1800" dirty="0"/>
              <a:t> Match worker profiles directly to central and state welfare schemes (e.g., BOCW, PM-SYM).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Wage Fairness &amp; Grievance Reporting:</a:t>
            </a:r>
            <a:r>
              <a:rPr lang="en-IN" sz="1800" dirty="0"/>
              <a:t> Detect illegal wage withholdings and flag critical occupational health and safety hazards in real-time.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Labor Welfare Command Dashboard:</a:t>
            </a:r>
            <a:r>
              <a:rPr lang="en-IN" sz="1800" dirty="0"/>
              <a:t> Provide real-time surveillance and dispatch metrics for authorities and NGOs. 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9A9E334-AB74-C244-9D9E-456CE72F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5DC97-333E-CF20-E99A-7C04B77D3E2B}"/>
              </a:ext>
            </a:extLst>
          </p:cNvPr>
          <p:cNvSpPr txBox="1"/>
          <p:nvPr/>
        </p:nvSpPr>
        <p:spPr>
          <a:xfrm>
            <a:off x="576072" y="934142"/>
            <a:ext cx="106070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b="1" dirty="0"/>
              <a:t>Proposed Solution : </a:t>
            </a:r>
            <a:r>
              <a:rPr lang="en-IN" sz="1800" dirty="0"/>
              <a:t>Agentic AI Ecosystem</a:t>
            </a:r>
            <a:endParaRPr lang="en-US" sz="1800" dirty="0"/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Overview</a:t>
            </a:r>
            <a:endParaRPr lang="en-IN" sz="1800" dirty="0"/>
          </a:p>
          <a:p>
            <a:pPr lvl="0" algn="just"/>
            <a:r>
              <a:rPr lang="en-IN" sz="1800" dirty="0"/>
              <a:t>The proposed solution is a multi-agent AI system built using IBM Granite LLM, IBM </a:t>
            </a:r>
            <a:r>
              <a:rPr lang="en-IN" sz="1800" dirty="0" err="1"/>
              <a:t>Cloudant</a:t>
            </a:r>
            <a:r>
              <a:rPr lang="en-IN" sz="1800" dirty="0"/>
              <a:t>, and </a:t>
            </a:r>
            <a:r>
              <a:rPr lang="en-IN" sz="1800" dirty="0" err="1"/>
              <a:t>Langflow</a:t>
            </a:r>
            <a:r>
              <a:rPr lang="en-IN" sz="1800" dirty="0"/>
              <a:t> / IBM Bob orchestration to safeguard migrant </a:t>
            </a:r>
            <a:r>
              <a:rPr lang="en-IN" sz="1800" dirty="0" err="1"/>
              <a:t>laborers</a:t>
            </a:r>
            <a:r>
              <a:rPr lang="en-IN" sz="1800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Our 5 Specialized Agents:</a:t>
            </a:r>
            <a:endParaRPr lang="en-IN" sz="1800" dirty="0"/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Migrant Skill &amp; Location Mapping Agent:</a:t>
            </a:r>
            <a:r>
              <a:rPr lang="en-IN" sz="1800" dirty="0"/>
              <a:t> Extracts artisan skills and location parameters from natural language inputs.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Welfare Scheme Eligibility Agent:</a:t>
            </a:r>
            <a:r>
              <a:rPr lang="en-IN" sz="1800" dirty="0"/>
              <a:t> Evaluates worker eligibility against state and national </a:t>
            </a:r>
            <a:r>
              <a:rPr lang="en-IN" sz="1800" dirty="0" err="1"/>
              <a:t>labor</a:t>
            </a:r>
            <a:r>
              <a:rPr lang="en-IN" sz="1800" dirty="0"/>
              <a:t> schemes.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Wage Fairness Monitoring Agent:</a:t>
            </a:r>
            <a:r>
              <a:rPr lang="en-IN" sz="1800" dirty="0"/>
              <a:t> Detects wage theft, excessive working hours, and underpayment anomalies against statutory standards.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Grievance &amp; Safety Reporting Agent:</a:t>
            </a:r>
            <a:r>
              <a:rPr lang="en-IN" sz="1800" dirty="0"/>
              <a:t> Scans for high-risk safety hazards (e.g., silicosis risks, toxic exposure) and triggers severity ratings (Critical, High, Medium).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Labor Welfare Dashboard Agent:</a:t>
            </a:r>
            <a:r>
              <a:rPr lang="en-IN" sz="1800" dirty="0"/>
              <a:t> Aggregates real-time intelligence into a SaaS Command </a:t>
            </a:r>
            <a:r>
              <a:rPr lang="en-IN" sz="1800" dirty="0" err="1"/>
              <a:t>Center</a:t>
            </a:r>
            <a:r>
              <a:rPr lang="en-IN" sz="1800" dirty="0"/>
              <a:t> for rapid administrative intervention.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1BE03-63F8-F9C8-36B1-AA4D47D744F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6519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CC823C-7CB1-5287-BFA0-AA962602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E9FDC-F2CA-8FA9-4424-92591C8935A2}"/>
              </a:ext>
            </a:extLst>
          </p:cNvPr>
          <p:cNvSpPr txBox="1"/>
          <p:nvPr/>
        </p:nvSpPr>
        <p:spPr>
          <a:xfrm>
            <a:off x="576072" y="934142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dirty="0"/>
              <a:t>The</a:t>
            </a:r>
            <a:r>
              <a:rPr lang="en-US" sz="1800" b="1" dirty="0"/>
              <a:t> </a:t>
            </a:r>
            <a:r>
              <a:rPr lang="en-IN" sz="1800" dirty="0"/>
              <a:t>Technology &amp; Components Used are :</a:t>
            </a:r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Core Infrastructure: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Granite Model (Granite-4.0-8B-Instruct):</a:t>
            </a:r>
            <a:r>
              <a:rPr lang="en-IN" sz="1800" dirty="0"/>
              <a:t> Powered our NLP translation, severity categorization, and scheme matching.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</a:t>
            </a:r>
            <a:r>
              <a:rPr lang="en-IN" sz="1800" b="1" dirty="0" err="1"/>
              <a:t>Cloudant</a:t>
            </a:r>
            <a:r>
              <a:rPr lang="en-IN" sz="1800" b="1" dirty="0"/>
              <a:t> (NoSQL Document Database):</a:t>
            </a:r>
            <a:r>
              <a:rPr lang="en-IN" sz="1800" dirty="0"/>
              <a:t> Used to store dynamic JSON worker profiles, incident records, and schema-less data.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watsonx.ai:</a:t>
            </a:r>
            <a:r>
              <a:rPr lang="en-IN" sz="1800" dirty="0"/>
              <a:t> Provided the core AI infrastructure, API management, and governance for our agentic workflows.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Orchestration &amp; Development: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Bob Platform:</a:t>
            </a:r>
            <a:r>
              <a:rPr lang="en-IN" sz="1800" dirty="0"/>
              <a:t> Used for rapid troubleshooting, visual UI generation, and architectural design.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 err="1"/>
              <a:t>FastAPI</a:t>
            </a:r>
            <a:r>
              <a:rPr lang="en-IN" sz="1800" b="1" dirty="0"/>
              <a:t> &amp; Python:</a:t>
            </a:r>
            <a:r>
              <a:rPr lang="en-IN" sz="1800" dirty="0"/>
              <a:t> Handled our backend routing and AI API connections.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Render Cloud:</a:t>
            </a:r>
            <a:r>
              <a:rPr lang="en-IN" sz="1800" dirty="0"/>
              <a:t> Hosted our live, </a:t>
            </a:r>
            <a:r>
              <a:rPr lang="en-IN" sz="1800" dirty="0" err="1"/>
              <a:t>unblockable</a:t>
            </a:r>
            <a:r>
              <a:rPr lang="en-IN" sz="1800" dirty="0"/>
              <a:t> production server.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User Interfaces (Inputs/Outputs):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Flutter (Mobile App):</a:t>
            </a:r>
            <a:r>
              <a:rPr lang="en-IN" sz="1800" dirty="0"/>
              <a:t> Handled the chat/form input for workers to report grievances.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Tailwind CSS (Command </a:t>
            </a:r>
            <a:r>
              <a:rPr lang="en-IN" sz="1800" b="1" dirty="0" err="1"/>
              <a:t>Center</a:t>
            </a:r>
            <a:r>
              <a:rPr lang="en-IN" sz="1800" b="1" dirty="0"/>
              <a:t>):</a:t>
            </a:r>
            <a:r>
              <a:rPr lang="en-IN" sz="1800" dirty="0"/>
              <a:t> The live SaaS dashboard that outputs the structured AI responses and risk levels.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43A12-85E1-5CEC-77FA-EDC29F58DCB7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Technology &amp; Components Used</a:t>
            </a:r>
          </a:p>
        </p:txBody>
      </p:sp>
    </p:spTree>
    <p:extLst>
      <p:ext uri="{BB962C8B-B14F-4D97-AF65-F5344CB8AC3E}">
        <p14:creationId xmlns:p14="http://schemas.microsoft.com/office/powerpoint/2010/main" val="1372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D5F4D9-E072-A898-54DD-87F5C8E7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34D8F-86E2-F2EF-5009-C34591C42052}"/>
              </a:ext>
            </a:extLst>
          </p:cNvPr>
          <p:cNvSpPr txBox="1"/>
          <p:nvPr/>
        </p:nvSpPr>
        <p:spPr>
          <a:xfrm>
            <a:off x="576072" y="934142"/>
            <a:ext cx="106070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1800" dirty="0"/>
              <a:t>AI System Components (Custom Orchestration)</a:t>
            </a:r>
          </a:p>
          <a:p>
            <a:pPr algn="just" fontAlgn="base"/>
            <a:endParaRPr lang="en-US" sz="1800" b="1" dirty="0"/>
          </a:p>
          <a:p>
            <a:pPr algn="just"/>
            <a:r>
              <a:rPr lang="en-IN" sz="1800" i="1" dirty="0"/>
              <a:t>(Note: We opted for custom Python/</a:t>
            </a:r>
            <a:r>
              <a:rPr lang="en-IN" sz="1800" i="1" dirty="0" err="1"/>
              <a:t>FastAPI</a:t>
            </a:r>
            <a:r>
              <a:rPr lang="en-IN" sz="1800" i="1" dirty="0"/>
              <a:t> orchestration over visual builders to achieve lower latency and enterprise scalability).</a:t>
            </a:r>
          </a:p>
          <a:p>
            <a:pPr algn="just"/>
            <a:endParaRPr lang="en-IN" sz="1800" dirty="0"/>
          </a:p>
          <a:p>
            <a:pPr lvl="0" algn="just"/>
            <a:r>
              <a:rPr lang="en-IN" sz="1800" b="1" dirty="0"/>
              <a:t>1) Mobile Input Interface:</a:t>
            </a:r>
            <a:r>
              <a:rPr lang="en-IN" sz="1800" dirty="0"/>
              <a:t> Flutter-based UI where users enter their grievances, profile details, and evidence. </a:t>
            </a:r>
          </a:p>
          <a:p>
            <a:pPr lvl="0" algn="just"/>
            <a:r>
              <a:rPr lang="en-IN" sz="1800" b="1" dirty="0"/>
              <a:t>2) Custom API Orchestrator (</a:t>
            </a:r>
            <a:r>
              <a:rPr lang="en-IN" sz="1800" b="1" dirty="0" err="1"/>
              <a:t>FastAPI</a:t>
            </a:r>
            <a:r>
              <a:rPr lang="en-IN" sz="1800" b="1" dirty="0"/>
              <a:t>):</a:t>
            </a:r>
            <a:r>
              <a:rPr lang="en-IN" sz="1800" dirty="0"/>
              <a:t> Our Python backend that receives the data and dynamically routes it to the specific AI agents.</a:t>
            </a:r>
          </a:p>
          <a:p>
            <a:pPr lvl="0" algn="just"/>
            <a:r>
              <a:rPr lang="en-IN" sz="1800" b="1" dirty="0"/>
              <a:t>3) IBM </a:t>
            </a:r>
            <a:r>
              <a:rPr lang="en-IN" sz="1800" b="1" dirty="0" err="1"/>
              <a:t>watsonx</a:t>
            </a:r>
            <a:r>
              <a:rPr lang="en-IN" sz="1800" b="1" dirty="0"/>
              <a:t> AI Agent:</a:t>
            </a:r>
            <a:r>
              <a:rPr lang="en-IN" sz="1800" dirty="0"/>
              <a:t> Processes the payload using IBM Granite-4.0-8B-Instruct to generate personalized safety insights and welfare recommendations. </a:t>
            </a:r>
          </a:p>
          <a:p>
            <a:pPr lvl="0" algn="just"/>
            <a:r>
              <a:rPr lang="en-IN" sz="1800" b="1" dirty="0"/>
              <a:t>4) </a:t>
            </a:r>
            <a:r>
              <a:rPr lang="en-IN" sz="1800" b="1" dirty="0" err="1"/>
              <a:t>Cloudant</a:t>
            </a:r>
            <a:r>
              <a:rPr lang="en-IN" sz="1800" b="1" dirty="0"/>
              <a:t> Database Component:</a:t>
            </a:r>
            <a:r>
              <a:rPr lang="en-IN" sz="1800" dirty="0"/>
              <a:t> Stores and retrieves dynamic user profiles, incident logs, and structured datasets for tracking. </a:t>
            </a:r>
          </a:p>
          <a:p>
            <a:pPr lvl="0" algn="just"/>
            <a:r>
              <a:rPr lang="en-IN" sz="1800" b="1" dirty="0"/>
              <a:t>5) Web Dashboard Output:</a:t>
            </a:r>
            <a:r>
              <a:rPr lang="en-IN" sz="1800" dirty="0"/>
              <a:t> Displays the AI-generated structured JSON responses (risk levels, scheme matches) in a real-time command </a:t>
            </a:r>
            <a:r>
              <a:rPr lang="en-IN" sz="1800" dirty="0" err="1"/>
              <a:t>center</a:t>
            </a:r>
            <a:r>
              <a:rPr lang="en-IN" sz="1800" dirty="0"/>
              <a:t>. 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81B48-EACB-75B5-6682-FA39D336F89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 System Components</a:t>
            </a:r>
          </a:p>
        </p:txBody>
      </p:sp>
    </p:spTree>
    <p:extLst>
      <p:ext uri="{BB962C8B-B14F-4D97-AF65-F5344CB8AC3E}">
        <p14:creationId xmlns:p14="http://schemas.microsoft.com/office/powerpoint/2010/main" val="95060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61F0CAE-C7A8-6BB4-1A75-8EBC338D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A88BE-4DB6-0CE1-F499-E57A99205709}"/>
              </a:ext>
            </a:extLst>
          </p:cNvPr>
          <p:cNvSpPr txBox="1"/>
          <p:nvPr/>
        </p:nvSpPr>
        <p:spPr>
          <a:xfrm>
            <a:off x="576072" y="934142"/>
            <a:ext cx="106070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b="1" dirty="0"/>
          </a:p>
          <a:p>
            <a:pPr algn="just"/>
            <a:r>
              <a:rPr lang="en-IN" sz="1800" b="1" dirty="0"/>
              <a:t>The Pipeline:</a:t>
            </a:r>
          </a:p>
          <a:p>
            <a:pPr algn="just"/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Autonomous Multi-Agent Collaboration:</a:t>
            </a:r>
            <a:r>
              <a:rPr lang="en-IN" sz="1800" dirty="0"/>
              <a:t> Rather than operating as a passive chatbot, specialized agents perform dedicated tasks (skill indexing, wage auditing, safety hazard analysis) and collaborate asynchronously.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Unstructured-to-Structured Intelligence:</a:t>
            </a:r>
            <a:r>
              <a:rPr lang="en-IN" sz="1800" dirty="0"/>
              <a:t> Converts informal, colloquial Hindi/Gujarati voice statements into actionable, prioritized JSON data points.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Real-Time Data Sync:</a:t>
            </a:r>
            <a:r>
              <a:rPr lang="en-IN" sz="1800" dirty="0"/>
              <a:t> The Flutter Mobile App securely sends data to the Python/</a:t>
            </a:r>
            <a:r>
              <a:rPr lang="en-IN" sz="1800" dirty="0" err="1"/>
              <a:t>FastAPI</a:t>
            </a:r>
            <a:r>
              <a:rPr lang="en-IN" sz="1800" dirty="0"/>
              <a:t> orchestrator, which interacts with IBM watsonx.ai and logs directly to IBM </a:t>
            </a:r>
            <a:r>
              <a:rPr lang="en-IN" sz="1800" dirty="0" err="1"/>
              <a:t>Cloudant</a:t>
            </a:r>
            <a:r>
              <a:rPr lang="en-IN" sz="1800" dirty="0"/>
              <a:t>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366C8-3F4A-B9A5-1F39-0A298F5177F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Workflow &amp; Architecture Blueprint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EB29765-A1E8-32BD-99FF-C081B9BD6DCA}"/>
              </a:ext>
            </a:extLst>
          </p:cNvPr>
          <p:cNvGrpSpPr/>
          <p:nvPr/>
        </p:nvGrpSpPr>
        <p:grpSpPr>
          <a:xfrm>
            <a:off x="4192357" y="4002245"/>
            <a:ext cx="3807286" cy="2244992"/>
            <a:chOff x="0" y="0"/>
            <a:chExt cx="1482686" cy="1274980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76C7234-E4FE-4414-0F7D-23BD3A62C215}"/>
                </a:ext>
              </a:extLst>
            </p:cNvPr>
            <p:cNvSpPr/>
            <p:nvPr/>
          </p:nvSpPr>
          <p:spPr>
            <a:xfrm flipH="1">
              <a:off x="0" y="0"/>
              <a:ext cx="1482686" cy="1274980"/>
            </a:xfrm>
            <a:custGeom>
              <a:avLst/>
              <a:gdLst/>
              <a:ahLst/>
              <a:cxnLst/>
              <a:rect l="l" t="t" r="r" b="b"/>
              <a:pathLst>
                <a:path w="1482686" h="1274980">
                  <a:moveTo>
                    <a:pt x="1482686" y="0"/>
                  </a:moveTo>
                  <a:lnTo>
                    <a:pt x="0" y="0"/>
                  </a:lnTo>
                  <a:lnTo>
                    <a:pt x="0" y="1274980"/>
                  </a:lnTo>
                  <a:lnTo>
                    <a:pt x="1482686" y="1274980"/>
                  </a:lnTo>
                  <a:close/>
                </a:path>
              </a:pathLst>
            </a:custGeom>
            <a:blipFill>
              <a:blip r:embed="rId3"/>
              <a:stretch>
                <a:fillRect t="-37272" b="-3727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4630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6829F-44B9-C029-E578-25587EB1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" t="10641" r="2044" b="3232"/>
          <a:stretch>
            <a:fillRect/>
          </a:stretch>
        </p:blipFill>
        <p:spPr>
          <a:xfrm>
            <a:off x="205289" y="1179647"/>
            <a:ext cx="11781422" cy="5283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9603B64-1B5E-E98F-3E96-5C2046FE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DC739-0EE0-2437-9B66-4C336A457FAC}"/>
              </a:ext>
            </a:extLst>
          </p:cNvPr>
          <p:cNvSpPr txBox="1"/>
          <p:nvPr/>
        </p:nvSpPr>
        <p:spPr>
          <a:xfrm>
            <a:off x="576072" y="934142"/>
            <a:ext cx="106070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/>
              <a:t>Role of Agentic AI in </a:t>
            </a:r>
            <a:r>
              <a:rPr lang="en-IN" sz="1800" dirty="0" err="1"/>
              <a:t>Karigar</a:t>
            </a:r>
            <a:r>
              <a:rPr lang="en-IN" sz="1800" dirty="0"/>
              <a:t> App</a:t>
            </a:r>
          </a:p>
          <a:p>
            <a:pPr algn="just"/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Autonomous Multi-Agent Collaboration:</a:t>
            </a:r>
            <a:r>
              <a:rPr lang="en-IN" sz="1800" dirty="0"/>
              <a:t> Rather than operating as a passive chatbot, specialized agents perform dedicated tasks (skill indexing, wage auditing, safety hazard analysis) and collaborate asynchronously.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Unstructured-to-Structured Intelligence:</a:t>
            </a:r>
            <a:r>
              <a:rPr lang="en-IN" sz="1800" dirty="0"/>
              <a:t> Converts informal, colloquial Hindi/Gujarati voice statements into actionable, prioritized JSON data points.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Context-Aware Decision Making:</a:t>
            </a:r>
            <a:r>
              <a:rPr lang="en-IN" sz="1800" dirty="0"/>
              <a:t> Automatically cross-references dynamic worker symptoms (e.g., dust inhalation) with specific state welfare policies (e.g., Pneumoconiosis relief).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Proactive Risk Intervention:</a:t>
            </a:r>
            <a:r>
              <a:rPr lang="en-IN" sz="1800" dirty="0"/>
              <a:t> Directly escalates critical life-safety threats (e.g., mine flooding, boiler leaks) to the Command </a:t>
            </a:r>
            <a:r>
              <a:rPr lang="en-IN" sz="1800" dirty="0" err="1"/>
              <a:t>Center</a:t>
            </a:r>
            <a:r>
              <a:rPr lang="en-IN" sz="1800" dirty="0"/>
              <a:t> without requiring manual triage.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F8B36-F36F-6DE6-D562-4CB447D317D8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Role of Agentic AI in the Solution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8BF65DB-45CA-D83D-EEE2-77CE8D4A7552}"/>
              </a:ext>
            </a:extLst>
          </p:cNvPr>
          <p:cNvGrpSpPr/>
          <p:nvPr/>
        </p:nvGrpSpPr>
        <p:grpSpPr>
          <a:xfrm>
            <a:off x="7943414" y="3908886"/>
            <a:ext cx="3572957" cy="2719676"/>
            <a:chOff x="0" y="0"/>
            <a:chExt cx="1135718" cy="79865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88E0975-7C89-8AA9-7081-D299120C98EB}"/>
                </a:ext>
              </a:extLst>
            </p:cNvPr>
            <p:cNvSpPr/>
            <p:nvPr/>
          </p:nvSpPr>
          <p:spPr>
            <a:xfrm>
              <a:off x="0" y="0"/>
              <a:ext cx="1135718" cy="798653"/>
            </a:xfrm>
            <a:custGeom>
              <a:avLst/>
              <a:gdLst/>
              <a:ahLst/>
              <a:cxnLst/>
              <a:rect l="l" t="t" r="r" b="b"/>
              <a:pathLst>
                <a:path w="1135718" h="798653">
                  <a:moveTo>
                    <a:pt x="0" y="0"/>
                  </a:moveTo>
                  <a:lnTo>
                    <a:pt x="1135718" y="0"/>
                  </a:lnTo>
                  <a:lnTo>
                    <a:pt x="1135718" y="798653"/>
                  </a:lnTo>
                  <a:lnTo>
                    <a:pt x="0" y="798653"/>
                  </a:lnTo>
                  <a:close/>
                </a:path>
              </a:pathLst>
            </a:custGeom>
            <a:blipFill>
              <a:blip r:embed="rId3"/>
              <a:stretch>
                <a:fillRect l="-12507" r="-12507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343232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9995C26-F491-B0A5-9DCA-868094CF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3E48944A-0519-D5AA-0F70-4B53B5361887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on IBM Cloud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1F980-76A1-92A9-763D-43D91A2E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9" y="869689"/>
            <a:ext cx="11542301" cy="55929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C814F-67BD-AD7A-1D3F-F76BE8AF38E6}"/>
              </a:ext>
            </a:extLst>
          </p:cNvPr>
          <p:cNvSpPr txBox="1"/>
          <p:nvPr/>
        </p:nvSpPr>
        <p:spPr>
          <a:xfrm>
            <a:off x="3058509" y="4922818"/>
            <a:ext cx="7576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1800" b="1" dirty="0"/>
              <a:t>Token Metric Summary:</a:t>
            </a:r>
            <a:r>
              <a:rPr lang="en-IN" sz="1800" dirty="0"/>
              <a:t> Real-time extraction completed within optimal context window limits (~1,958 tokens per full grievance lifecycle audit).</a:t>
            </a:r>
          </a:p>
        </p:txBody>
      </p:sp>
    </p:spTree>
    <p:extLst>
      <p:ext uri="{BB962C8B-B14F-4D97-AF65-F5344CB8AC3E}">
        <p14:creationId xmlns:p14="http://schemas.microsoft.com/office/powerpoint/2010/main" val="518803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492F901-6AB2-A50C-0858-B16E0B59E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917C559-B087-61DD-BEF4-607C611C3DED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on IBM Bob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0F03F-91C7-2038-DB6A-B182E436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" y="848151"/>
            <a:ext cx="11937683" cy="5686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4808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C89065-B1CB-5B1A-3CB3-C0374665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A5B528-6DA7-291E-965B-4F8618FA87A1}"/>
              </a:ext>
            </a:extLst>
          </p:cNvPr>
          <p:cNvSpPr txBox="1"/>
          <p:nvPr/>
        </p:nvSpPr>
        <p:spPr>
          <a:xfrm>
            <a:off x="576072" y="934142"/>
            <a:ext cx="1060704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. 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Voice-First &amp; Low Literacy Design:</a:t>
            </a:r>
            <a:r>
              <a:rPr lang="en-IN" sz="1800" dirty="0"/>
              <a:t> Enables informal workers to speak freely without navigating complex government web forms.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Agentic Multi-Layer Analysis:</a:t>
            </a:r>
            <a:r>
              <a:rPr lang="en-IN" sz="1800" dirty="0"/>
              <a:t> Simultaneously evaluates skills, wage compliance, and physical safety in a single pass.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Enterprise Command </a:t>
            </a:r>
            <a:r>
              <a:rPr lang="en-IN" sz="1800" b="1" dirty="0" err="1"/>
              <a:t>Center</a:t>
            </a:r>
            <a:r>
              <a:rPr lang="en-IN" sz="1800" b="1" dirty="0"/>
              <a:t>:</a:t>
            </a:r>
            <a:r>
              <a:rPr lang="en-IN" sz="1800" dirty="0"/>
              <a:t> Bridges vulnerable workers directly to district authorities via an interactive, real-time surveillance dashboard.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Schema-Less Scalability:</a:t>
            </a:r>
            <a:r>
              <a:rPr lang="en-IN" sz="1800" dirty="0"/>
              <a:t> Powered by IBM </a:t>
            </a:r>
            <a:r>
              <a:rPr lang="en-IN" sz="1800" dirty="0" err="1"/>
              <a:t>Cloudant</a:t>
            </a:r>
            <a:r>
              <a:rPr lang="en-IN" sz="1800" dirty="0"/>
              <a:t>, allowing dynamic violation tagging and multi-state expansion with zero schema friction.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Enterprise-Ready Governance:</a:t>
            </a:r>
            <a:r>
              <a:rPr lang="en-IN" sz="1800" dirty="0"/>
              <a:t> Built natively on IBM watsonx.ai and IBM Granite models for trusted and governed AI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FF8DA-AA7A-1C9F-F549-D38E8EF1A44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D5A64C9-741C-5A45-F67A-A231B7C7AF07}"/>
              </a:ext>
            </a:extLst>
          </p:cNvPr>
          <p:cNvGrpSpPr/>
          <p:nvPr/>
        </p:nvGrpSpPr>
        <p:grpSpPr>
          <a:xfrm>
            <a:off x="8347841" y="4011908"/>
            <a:ext cx="2711669" cy="2530782"/>
            <a:chOff x="0" y="0"/>
            <a:chExt cx="598345" cy="563121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66A105D-F34D-8E78-7F27-93A49D484AD4}"/>
                </a:ext>
              </a:extLst>
            </p:cNvPr>
            <p:cNvSpPr/>
            <p:nvPr/>
          </p:nvSpPr>
          <p:spPr>
            <a:xfrm>
              <a:off x="0" y="0"/>
              <a:ext cx="598345" cy="563121"/>
            </a:xfrm>
            <a:custGeom>
              <a:avLst/>
              <a:gdLst/>
              <a:ahLst/>
              <a:cxnLst/>
              <a:rect l="l" t="t" r="r" b="b"/>
              <a:pathLst>
                <a:path w="598345" h="563121">
                  <a:moveTo>
                    <a:pt x="0" y="0"/>
                  </a:moveTo>
                  <a:lnTo>
                    <a:pt x="598345" y="0"/>
                  </a:lnTo>
                  <a:lnTo>
                    <a:pt x="598345" y="563121"/>
                  </a:lnTo>
                  <a:lnTo>
                    <a:pt x="0" y="563121"/>
                  </a:lnTo>
                  <a:close/>
                </a:path>
              </a:pathLst>
            </a:custGeom>
            <a:blipFill>
              <a:blip r:embed="rId3"/>
              <a:stretch>
                <a:fillRect l="-20628" r="-2062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785581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9BBCE44-299A-F236-4AE2-CF74E12F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96EA09-EB2E-3660-387F-AB9C2EF69E0A}"/>
              </a:ext>
            </a:extLst>
          </p:cNvPr>
          <p:cNvSpPr txBox="1"/>
          <p:nvPr/>
        </p:nvSpPr>
        <p:spPr>
          <a:xfrm>
            <a:off x="576073" y="934142"/>
            <a:ext cx="60690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Links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Github</a:t>
            </a:r>
            <a:r>
              <a:rPr lang="en-IN" sz="1800" b="1" dirty="0"/>
              <a:t> Repository</a:t>
            </a:r>
            <a:r>
              <a:rPr lang="en-IN" sz="1800" dirty="0"/>
              <a:t> – [https://github.com/krish-7567/team-thekedaars-core]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Live Command </a:t>
            </a:r>
            <a:r>
              <a:rPr lang="en-IN" sz="1800" b="1" dirty="0" err="1"/>
              <a:t>Center</a:t>
            </a:r>
            <a:r>
              <a:rPr lang="en-IN" sz="1800" b="1" dirty="0"/>
              <a:t> Dashboard</a:t>
            </a:r>
            <a:r>
              <a:rPr lang="en-IN" sz="1800" dirty="0"/>
              <a:t> – [https://team-thekedaars-karigar.onrender.com/dashboard]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System Status:</a:t>
            </a:r>
            <a:r>
              <a:rPr lang="en-IN" sz="1800" dirty="0"/>
              <a:t> Production Live — Powered by IBM watsonx.ai &amp; </a:t>
            </a:r>
            <a:r>
              <a:rPr lang="en-IN" sz="1800" dirty="0" err="1"/>
              <a:t>Cloudant</a:t>
            </a:r>
            <a:r>
              <a:rPr lang="en-IN" sz="1800" dirty="0"/>
              <a:t> NoSQL.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Scan the QR to Download </a:t>
            </a:r>
            <a:r>
              <a:rPr lang="hi-IN" sz="1800" dirty="0"/>
              <a:t>कारी</a:t>
            </a:r>
            <a:r>
              <a:rPr lang="en-IN" sz="1800" dirty="0"/>
              <a:t>GAR Android APK (Release Version)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01658-AE11-F5B2-64F4-7453FDE85173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System Access &amp;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14EE9-FA76-DF29-D69C-F00518F84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085" y="480848"/>
            <a:ext cx="4526098" cy="589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97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B7704F8-DB18-D10F-4AD4-93BF20B0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AEAC1-D4FB-8718-FC3A-E0EC9240537E}"/>
              </a:ext>
            </a:extLst>
          </p:cNvPr>
          <p:cNvSpPr txBox="1"/>
          <p:nvPr/>
        </p:nvSpPr>
        <p:spPr>
          <a:xfrm>
            <a:off x="576072" y="934142"/>
            <a:ext cx="74643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WhatsApp &amp; IVR Voice Integration:</a:t>
            </a:r>
            <a:r>
              <a:rPr lang="en-IN" sz="1800" dirty="0"/>
              <a:t> Enable direct grievance logging via WhatsApp bots and toll-free telephone IVR for feature phones.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National e-Shram API Sync:</a:t>
            </a:r>
            <a:r>
              <a:rPr lang="en-IN" sz="1800" dirty="0"/>
              <a:t> Bi-directional sync with the Ministry of Labour &amp; Employment database for instant identity verification.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Automated Legal &amp; Medical Aid Dispatch:</a:t>
            </a:r>
            <a:r>
              <a:rPr lang="en-IN" sz="1800" dirty="0"/>
              <a:t> Direct automated alerting to district legal service authorities and mobile health clinics in industrial zones.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C1101-654B-5265-39E9-B5B4ACB9D928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Future Scope</a:t>
            </a:r>
            <a:endParaRPr lang="en-IN" sz="2800" b="1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656B477-B6FC-9CAD-E0F9-EC67615C13D7}"/>
              </a:ext>
            </a:extLst>
          </p:cNvPr>
          <p:cNvGrpSpPr/>
          <p:nvPr/>
        </p:nvGrpSpPr>
        <p:grpSpPr>
          <a:xfrm>
            <a:off x="8205952" y="1836682"/>
            <a:ext cx="3709521" cy="4610395"/>
            <a:chOff x="0" y="0"/>
            <a:chExt cx="1545289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3EFB4D9-DA9A-11C4-A87C-AA89C4078A7A}"/>
                </a:ext>
              </a:extLst>
            </p:cNvPr>
            <p:cNvSpPr/>
            <p:nvPr/>
          </p:nvSpPr>
          <p:spPr>
            <a:xfrm>
              <a:off x="0" y="0"/>
              <a:ext cx="1545289" cy="1593725"/>
            </a:xfrm>
            <a:custGeom>
              <a:avLst/>
              <a:gdLst/>
              <a:ahLst/>
              <a:cxnLst/>
              <a:rect l="l" t="t" r="r" b="b"/>
              <a:pathLst>
                <a:path w="1545289" h="1593725">
                  <a:moveTo>
                    <a:pt x="0" y="0"/>
                  </a:moveTo>
                  <a:lnTo>
                    <a:pt x="1545289" y="0"/>
                  </a:lnTo>
                  <a:lnTo>
                    <a:pt x="15452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8000"/>
              </a:blip>
              <a:stretch>
                <a:fillRect l="-18756" r="-1875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2829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095137E-6AC1-A1A2-C498-26330249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0DBCECE1-7738-CA50-5B02-1ACCA97EB378}"/>
              </a:ext>
            </a:extLst>
          </p:cNvPr>
          <p:cNvSpPr/>
          <p:nvPr/>
        </p:nvSpPr>
        <p:spPr>
          <a:xfrm>
            <a:off x="4618764" y="112291"/>
            <a:ext cx="295447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B2374-8D2B-DDDD-A33B-401A555CA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86" y="854974"/>
            <a:ext cx="7516027" cy="56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6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25DB9C4-8BFF-9E6F-B045-23BE4E9A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2AE2014-CC90-B5D9-5596-1AB29122E61D}"/>
              </a:ext>
            </a:extLst>
          </p:cNvPr>
          <p:cNvSpPr/>
          <p:nvPr/>
        </p:nvSpPr>
        <p:spPr>
          <a:xfrm>
            <a:off x="4618764" y="112291"/>
            <a:ext cx="295447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69D514-41A5-F5E0-DD70-0BB3C838A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114" y="665064"/>
            <a:ext cx="9108853" cy="608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0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1169</Words>
  <Application>Microsoft Office PowerPoint</Application>
  <PresentationFormat>Widescreen</PresentationFormat>
  <Paragraphs>105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Anurrag Singh Tomar</cp:lastModifiedBy>
  <cp:revision>18</cp:revision>
  <dcterms:created xsi:type="dcterms:W3CDTF">2025-07-08T05:06:56Z</dcterms:created>
  <dcterms:modified xsi:type="dcterms:W3CDTF">2026-08-25T02:11:12Z</dcterms:modified>
</cp:coreProperties>
</file>